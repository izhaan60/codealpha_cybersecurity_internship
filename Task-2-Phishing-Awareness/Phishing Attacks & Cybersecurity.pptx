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629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239369"/>
            <a:ext cx="4953000" cy="11657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452711"/>
            <a:ext cx="5200650" cy="1340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sz="4800" b="1" i="0" u="none">
                <a:solidFill>
                  <a:srgbClr val="F8FAFC"/>
                </a:solidFill>
                <a:latin typeface="Poppins"/>
              </a:rPr>
              <a:t>Phishing Attacks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984152"/>
            <a:ext cx="495300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0" i="0" u="none">
                <a:solidFill>
                  <a:srgbClr val="94A3B8"/>
                </a:solidFill>
                <a:latin typeface="Inter"/>
              </a:rPr>
              <a:t>Understanding, Detecting, and Preventing Cyber Threats through Social Engineering.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4439394"/>
            <a:ext cx="49530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Presented by: </a:t>
            </a:r>
            <a:r>
              <a:rPr sz="1350" b="1" i="0" u="none">
                <a:solidFill>
                  <a:srgbClr val="F8FAFC"/>
                </a:solidFill>
                <a:latin typeface="Inter"/>
              </a:rPr>
              <a:t>Muhammad Izhan Siddiqui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761309"/>
            <a:ext cx="49530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Domain: </a:t>
            </a:r>
            <a:r>
              <a:rPr sz="1350" b="1" i="0" u="none">
                <a:solidFill>
                  <a:srgbClr val="F8FAFC"/>
                </a:solidFill>
                <a:latin typeface="Inter"/>
              </a:rPr>
              <a:t>Cyber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083224"/>
            <a:ext cx="49530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Organization: </a:t>
            </a:r>
            <a:r>
              <a:rPr sz="1350" b="1" i="0" u="none">
                <a:solidFill>
                  <a:srgbClr val="F8FAFC"/>
                </a:solidFill>
                <a:latin typeface="Inter"/>
              </a:rPr>
              <a:t>CodeAlpha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2114550"/>
            <a:ext cx="5238750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871662"/>
            <a:ext cx="523875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Phishing is a type of cyber attack where attackers disguise themselves as a trustworthy entity to deceive victims into revealing sensitive information, such as passwords or credit card numbers.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424237"/>
            <a:ext cx="550068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Poppins SemiBold"/>
              </a:rPr>
              <a:t>The Role of Social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967162"/>
            <a:ext cx="52387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Attackers do not just hack systems; they hack human psychology. They rely on: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719637"/>
            <a:ext cx="50482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▹ </a:t>
            </a:r>
            <a:r>
              <a:rPr sz="1500" b="1" i="0" u="none">
                <a:solidFill>
                  <a:srgbClr val="CBD5E1"/>
                </a:solidFill>
                <a:latin typeface="Inter"/>
              </a:rPr>
              <a:t>Urgency: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"Your account will be suspended in 24 hours!"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5405437"/>
            <a:ext cx="50482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▹ </a:t>
            </a:r>
            <a:r>
              <a:rPr sz="1500" b="1" i="0" u="none">
                <a:solidFill>
                  <a:srgbClr val="CBD5E1"/>
                </a:solidFill>
                <a:latin typeface="Inter"/>
              </a:rPr>
              <a:t>Fear: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"Unauthorized login attempt detected."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5786437"/>
            <a:ext cx="50482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▹ </a:t>
            </a:r>
            <a:r>
              <a:rPr sz="1500" b="1" i="0" u="none">
                <a:solidFill>
                  <a:srgbClr val="CBD5E1"/>
                </a:solidFill>
                <a:latin typeface="Inter"/>
              </a:rPr>
              <a:t>Curiosity: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"Click here to view your bonus."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2124075"/>
            <a:ext cx="5219700" cy="37909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571500"/>
            <a:ext cx="11601450" cy="704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38BDF8"/>
                </a:solidFill>
                <a:latin typeface="Poppins SemiBold"/>
              </a:rPr>
              <a:t>What is Phishing?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1352550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28725"/>
            <a:ext cx="5238750" cy="5581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228725"/>
            <a:ext cx="5238750" cy="5581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2025" y="1619250"/>
            <a:ext cx="468058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Poppins SemiBold"/>
              </a:rPr>
              <a:t>Fake Emails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2162175"/>
            <a:ext cx="44577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Always inspect emails carefully before clicking any links or downloading attachments: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72275" y="1619250"/>
            <a:ext cx="468058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Poppins SemiBold"/>
              </a:rPr>
              <a:t>Fake Websites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72275" y="2162175"/>
            <a:ext cx="44577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If you click a link, verify the destination website before entering any credentials: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5400" y="2914650"/>
            <a:ext cx="41243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Inter"/>
              </a:rPr>
              <a:t>Generic Greetings: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Using "Dear Customer" instead of your actual name.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3714750"/>
            <a:ext cx="41243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Inter"/>
              </a:rPr>
              <a:t>Suspicious Sender Address: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Look closely at the email domain (e.g., support@paypal-alert.com instead of support@paypal.com).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5400" y="4819650"/>
            <a:ext cx="41243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Inter"/>
              </a:rPr>
              <a:t>Poor Grammar: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Spelling mistakes and odd phrasing are major red flags.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5400" y="5619750"/>
            <a:ext cx="41243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Inter"/>
              </a:rPr>
              <a:t>Urgent Demands: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Pressuring you to act immediately without thinking.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05650" y="2914650"/>
            <a:ext cx="41243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Inter"/>
              </a:rPr>
              <a:t>Check the URL: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Look for subtle misspellings (e.g., amaz0n.com).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05650" y="3714750"/>
            <a:ext cx="41243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Inter"/>
              </a:rPr>
              <a:t>HTTP vs HTTPS: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Secure sites use HTTPS. However, note that many phishing sites now use HTTPS too, so this alone is not enough.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05650" y="4819650"/>
            <a:ext cx="41243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Inter"/>
              </a:rPr>
              <a:t>Poor Design: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Low-resolution logos, broken links, or formatting errors.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5650" y="5619750"/>
            <a:ext cx="41243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Inter"/>
              </a:rPr>
              <a:t>Unusual Pop-ups: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Immediate requests for login data upon loading.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7275" y="2914650"/>
            <a:ext cx="857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7275" y="3714750"/>
            <a:ext cx="857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7275" y="4819650"/>
            <a:ext cx="857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7275" y="5619750"/>
            <a:ext cx="857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67525" y="2914650"/>
            <a:ext cx="857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67525" y="3714750"/>
            <a:ext cx="857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67525" y="4819650"/>
            <a:ext cx="857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67525" y="5619750"/>
            <a:ext cx="857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" y="47625"/>
            <a:ext cx="11601450" cy="704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38BDF8"/>
                </a:solidFill>
                <a:latin typeface="Poppins SemiBold"/>
              </a:rPr>
              <a:t>Spotting the Fakes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1500" y="828675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95487"/>
            <a:ext cx="3492549" cy="404797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1995487"/>
            <a:ext cx="3492549" cy="404797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1995487"/>
            <a:ext cx="3492549" cy="40479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7551" y="3195637"/>
            <a:ext cx="238029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38BDF8"/>
                </a:solidFill>
                <a:latin typeface="Poppins SemiBold"/>
              </a:rPr>
              <a:t>The Fake Invoice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738562"/>
            <a:ext cx="2901999" cy="13714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An email arrives containing a fake invoice for a service you didn't buy. The attached "receipt" is actually malware designed to infect your system when opened.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524" y="3195637"/>
            <a:ext cx="3047099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38BDF8"/>
                </a:solidFill>
                <a:latin typeface="Poppins SemiBold"/>
              </a:rPr>
              <a:t>CEO Fraud (Spear Phishing)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5074" y="4138612"/>
            <a:ext cx="2901999" cy="13714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Attackers impersonate a company executive and email an employee, urgently requesting a wire transfer or sensitive HR data. Highly targeted and convincing.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99115" y="3195637"/>
            <a:ext cx="2950368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38BDF8"/>
                </a:solidFill>
                <a:latin typeface="Poppins SemiBold"/>
              </a:rPr>
              <a:t>Account Suspension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23374" y="3738562"/>
            <a:ext cx="2901999" cy="13714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A message claiming your Office365 or bank account is locked. It provides a link to a fake login page to "verify" your identity, stealing your credentials.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36725" y="2424112"/>
            <a:ext cx="361950" cy="4762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86450" y="2424112"/>
            <a:ext cx="419100" cy="4762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64749" y="2424112"/>
            <a:ext cx="419100" cy="476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601450" cy="704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38BDF8"/>
                </a:solidFill>
                <a:latin typeface="Poppins SemiBold"/>
              </a:rPr>
              <a:t>Real-World Tactics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1352550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333500" y="1636514"/>
            <a:ext cx="4619625" cy="2240160"/>
          </a:xfrm>
          <a:prstGeom prst="roundRect">
            <a:avLst>
              <a:gd name="adj" fmla="val 5102"/>
            </a:avLst>
          </a:prstGeom>
          <a:solidFill>
            <a:srgbClr val="1E293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00250" y="1922264"/>
            <a:ext cx="3667125" cy="16686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F8FAFC"/>
                </a:solidFill>
                <a:latin typeface="Inter SemiBold"/>
              </a:rPr>
              <a:t>Think Before You Click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Never click links or open attachments in unsolicited emails, even if they appear to be from known sources.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38875" y="1636514"/>
            <a:ext cx="4619625" cy="2240160"/>
          </a:xfrm>
          <a:prstGeom prst="roundRect">
            <a:avLst>
              <a:gd name="adj" fmla="val 5102"/>
            </a:avLst>
          </a:prstGeom>
          <a:solidFill>
            <a:srgbClr val="1E293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05625" y="1922264"/>
            <a:ext cx="3667125" cy="16686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F8FAFC"/>
                </a:solidFill>
                <a:latin typeface="Inter SemiBold"/>
              </a:rPr>
              <a:t>Enable 2FA / MFA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Always use Two-Factor Authentication. Even if an attacker steals your password, they cannot access your account without the second factor.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33500" y="4162425"/>
            <a:ext cx="4619625" cy="2240160"/>
          </a:xfrm>
          <a:prstGeom prst="roundRect">
            <a:avLst>
              <a:gd name="adj" fmla="val 5102"/>
            </a:avLst>
          </a:prstGeom>
          <a:solidFill>
            <a:srgbClr val="1E293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00250" y="4448175"/>
            <a:ext cx="3667125" cy="16686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F8FAFC"/>
                </a:solidFill>
                <a:latin typeface="Inter SemiBold"/>
              </a:rPr>
              <a:t>Verify the Source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If you receive a suspicious request, contact the person or company directly using a known, trusted phone number or website URL.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8875" y="4162425"/>
            <a:ext cx="4619625" cy="2240160"/>
          </a:xfrm>
          <a:prstGeom prst="roundRect">
            <a:avLst>
              <a:gd name="adj" fmla="val 5102"/>
            </a:avLst>
          </a:prstGeom>
          <a:solidFill>
            <a:srgbClr val="1E293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05625" y="4448175"/>
            <a:ext cx="3667125" cy="16686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F8FAFC"/>
                </a:solidFill>
                <a:latin typeface="Inter SemiBold"/>
              </a:rPr>
              <a:t>Keep Software Updated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Regularly update your OS, browsers, and antivirus software to patch vulnerabilities that malware might exploit.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33500" y="3867150"/>
            <a:ext cx="46196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38875" y="3867150"/>
            <a:ext cx="46196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333500" y="6393060"/>
            <a:ext cx="46196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38875" y="6393060"/>
            <a:ext cx="46196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3525" y="1927026"/>
            <a:ext cx="285750" cy="2952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900" y="1927026"/>
            <a:ext cx="219075" cy="2952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3525" y="4452937"/>
            <a:ext cx="285750" cy="2952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8900" y="4452937"/>
            <a:ext cx="361950" cy="2952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455414"/>
            <a:ext cx="11601450" cy="704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38BDF8"/>
                </a:solidFill>
                <a:latin typeface="Poppins SemiBold"/>
              </a:rPr>
              <a:t>Best Practices for Prevention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1236464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175" y="1068139"/>
            <a:ext cx="9391650" cy="590296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5475" y="5041403"/>
            <a:ext cx="2914798" cy="762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0773" y="5041403"/>
            <a:ext cx="2611635" cy="762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02909" y="5041403"/>
            <a:ext cx="2493764" cy="76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95475" y="1563439"/>
            <a:ext cx="840105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1" i="0" u="none">
                <a:solidFill>
                  <a:srgbClr val="38BDF8"/>
                </a:solidFill>
                <a:latin typeface="Inter"/>
              </a:rPr>
              <a:t>SCENARIO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95475" y="2119610"/>
            <a:ext cx="8401050" cy="1919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sz="2700" b="0" i="0" u="none">
                <a:solidFill>
                  <a:srgbClr val="F8FAFC"/>
                </a:solidFill>
                <a:latin typeface="Inter SemiBold"/>
              </a:rPr>
              <a:t>"You receive an urgent email from 'IT Support' stating your corporate email will be deleted in 2 hours due to inactivity. It includes a link to 'verify your account status'."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95475" y="4420492"/>
            <a:ext cx="84010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How do you respond?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95475" y="6089153"/>
            <a:ext cx="840105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10B981"/>
                </a:solidFill>
                <a:latin typeface="Inter"/>
              </a:rPr>
              <a:t>Correct Answer: C. Never interact with the email. Report it through proper internal channels.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-112960"/>
            <a:ext cx="11601450" cy="704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38BDF8"/>
                </a:solidFill>
                <a:latin typeface="Poppins SemiBold"/>
              </a:rPr>
              <a:t>Interactive Module: What Would You Do?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668089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2352675"/>
            <a:ext cx="3333750" cy="3333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81750" y="2090737"/>
            <a:ext cx="5500687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8BDF8"/>
                </a:solidFill>
                <a:latin typeface="Poppins SemiBold"/>
              </a:rPr>
              <a:t>Human Firewall is the Strongest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81750" y="3033712"/>
            <a:ext cx="52387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While technical controls like spam filters and antivirus software are essential, they are not foolproof. Phishing attacks specifically target human psychology.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1750" y="4090987"/>
            <a:ext cx="523875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By staying vigilant, educating yourself on social engineering tactics, and adopting a "zero trust" mindset toward unexpected digital communications, you become the strongest line of defense in the cybersecurity chain.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81750" y="5500687"/>
            <a:ext cx="52387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8BDF8"/>
                </a:solidFill>
                <a:latin typeface="Inter"/>
              </a:rPr>
              <a:t>Stay Safe. Stay Secure.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8300" y="2466975"/>
            <a:ext cx="3105150" cy="31051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571500"/>
            <a:ext cx="11601450" cy="704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0" i="0" u="none">
                <a:solidFill>
                  <a:srgbClr val="38BDF8"/>
                </a:solidFill>
                <a:latin typeface="Poppins SemiBold"/>
              </a:rPr>
              <a:t>Conclusion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352550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620</Words>
  <Application>Microsoft Office PowerPoint</Application>
  <PresentationFormat>Widescreen</PresentationFormat>
  <Paragraphs>55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Inter</vt:lpstr>
      <vt:lpstr>Inter SemiBold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LENOVO</cp:lastModifiedBy>
  <cp:revision>2</cp:revision>
  <dcterms:created xsi:type="dcterms:W3CDTF">2013-01-27T09:14:16Z</dcterms:created>
  <dcterms:modified xsi:type="dcterms:W3CDTF">2026-09-09T13:33:32Z</dcterms:modified>
  <cp:category/>
</cp:coreProperties>
</file>